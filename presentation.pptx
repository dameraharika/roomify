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3" r:id="rId3"/>
    <p:sldId id="279" r:id="rId4"/>
    <p:sldId id="270" r:id="rId5"/>
    <p:sldId id="259" r:id="rId6"/>
    <p:sldId id="260" r:id="rId7"/>
    <p:sldId id="264" r:id="rId8"/>
    <p:sldId id="265" r:id="rId9"/>
    <p:sldId id="289" r:id="rId10"/>
    <p:sldId id="269" r:id="rId11"/>
    <p:sldId id="274" r:id="rId12"/>
    <p:sldId id="280" r:id="rId13"/>
    <p:sldId id="281" r:id="rId14"/>
    <p:sldId id="282" r:id="rId15"/>
    <p:sldId id="283" r:id="rId16"/>
    <p:sldId id="284" r:id="rId17"/>
    <p:sldId id="288" r:id="rId18"/>
    <p:sldId id="285" r:id="rId19"/>
    <p:sldId id="286" r:id="rId20"/>
    <p:sldId id="290" r:id="rId21"/>
    <p:sldId id="291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39717-341C-406D-B99B-7CE40DB0403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A8D4-A5BA-42BD-9C45-D18B2617C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4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78A8D4-A5BA-42BD-9C45-D18B2617CA1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85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78A8D4-A5BA-42BD-9C45-D18B2617CA1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6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78A8D4-A5BA-42BD-9C45-D18B2617CA1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62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78A8D4-A5BA-42BD-9C45-D18B2617CA1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4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28C6-97C7-C7A7-75CE-4172AF651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D6C97-7986-0211-EDD2-EFA493DD3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FAAA-BCFE-FC7F-5FDF-96D5E83A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AE8AC-590D-6877-7F21-DE231B9F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DEB3-4DC9-4186-322A-D5479BB1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3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D9A1-D0F5-488D-8F2A-C13CEDEA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3331F-B212-E17E-8275-0632FBF7A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034C7-6291-958A-EF85-8229AC27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24A2-8F40-3DA9-51BD-C5C3FAFA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6BB1D-52D3-515A-319B-E0BD879E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2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74B-5675-640D-2F7A-B01EDA12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40AA0-818F-F3F1-62DF-1E3B188C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DC2F-AAF9-A9F1-7F66-E4421A2A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F48A-5FFA-B651-1E8E-05908FCF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D33F-FCA9-95BD-C03B-57DC4C4A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7A3D-C756-2615-E08D-3EDAB677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6C7B-AEC1-2578-B2B2-7B6007CE3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27495-C894-2972-A20A-B4F1A2DB3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5D2AA-09D8-B27E-3520-8589B20C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DC6E3-463A-AE7A-4E35-98698011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8C72E-FCDB-756A-F8CB-86C45A09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5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CA6E-E39C-1E05-5BC6-4125E9B0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45C0A-28FE-D578-0F4E-6465A46D0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A6E2E-2370-0D49-A239-864C6CC00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13419-A9D3-F59D-69B9-FDC1CCBC5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89322-4163-BCD6-9268-C81D209C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67B3F-C7E5-CEA5-717E-8BC3EC02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86DBC-FFE0-0FE5-9A3E-C4DE8D57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3A105-AB0C-3739-879D-2D905F98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50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B5F-51E6-DDA2-7E7F-82E1D094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2E4C5-6488-D71F-F1E9-44AA3BB2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AB07C-0F93-0AAD-AC59-F8E7060A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97096-CDED-2A7E-19D9-E6A5704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5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2EFF0-6017-FC6E-E84C-8E3AF4E3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BB13B-9FDF-2D1B-05E7-6408D11D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5C6F9-3595-FF36-3DBF-D77A605E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50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2848-7E1C-E07A-7D60-6BFBDECD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A0ED7-C0AE-0C18-96B5-C63C21E9F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70E06-D482-F393-CFE3-68FBD88B7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0DE3E-FF26-6B52-DAD6-0A5EAE37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17285-8B0A-D0AE-0CA4-28DA1A1C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A2-3A16-3E97-290E-F1C388A3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95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4470-FF08-72D7-0BAE-4FA5FA6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59A42-8E53-71BB-EAE7-46002FFD2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5B64C-2B68-79D7-C46A-0F1C7F124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6755A-67AB-5D70-A43C-872D5F89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E1EFD-0407-AECF-2DE4-ACD5CCC8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BF031-7027-D36C-F5B2-D03CD8E7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6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1C6E-F7BB-50EF-9178-9032A4A7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B538B-910F-57B8-C32F-FD9EBBACB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39120-F8C3-F434-3930-9972F167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FBA4E-0B74-A10E-1AF2-68DE7863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1C58C-648D-342E-EF6C-C63922EC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4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02592-6418-AFE4-380D-D9026A5FA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A71BE-ACB0-A030-A88D-48F94F451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6560-690F-D05E-44C1-C683367D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E401A-EC9A-334A-F8BA-CFD1DB9E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58DE-51CB-341B-21AC-6C332589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81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6E9FE-0A6F-A68C-24A3-B76CCD2BA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1CAD1-F69E-AC5B-8C61-3A6E0A913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B66-247B-1297-A487-C27BADB2A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7549-988B-46A9-8274-E775E602948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012A-B22C-C0EA-2DA6-CF832B745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842DA-B999-5BF8-D6BB-13B221998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4AB4C-5583-4A0F-A541-15FAC929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CDC6F21-B940-0B78-589A-12A6FD94FF12}"/>
              </a:ext>
            </a:extLst>
          </p:cNvPr>
          <p:cNvSpPr txBox="1"/>
          <p:nvPr/>
        </p:nvSpPr>
        <p:spPr>
          <a:xfrm>
            <a:off x="3259532" y="626347"/>
            <a:ext cx="600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C49F40-168D-2883-02BD-15005662D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34" y="240105"/>
            <a:ext cx="2017660" cy="10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E8B0DB-22C2-D7FF-C795-165707444721}"/>
              </a:ext>
            </a:extLst>
          </p:cNvPr>
          <p:cNvSpPr txBox="1">
            <a:spLocks/>
          </p:cNvSpPr>
          <p:nvPr/>
        </p:nvSpPr>
        <p:spPr>
          <a:xfrm>
            <a:off x="2839276" y="1707504"/>
            <a:ext cx="6843860" cy="12419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Interior Layout Generation from CAD-Based Floor Plan Files </a:t>
            </a:r>
          </a:p>
        </p:txBody>
      </p:sp>
      <p:pic>
        <p:nvPicPr>
          <p:cNvPr id="24" name="Picture 23" descr="Image result for vrsec">
            <a:extLst>
              <a:ext uri="{FF2B5EF4-FFF2-40B4-BE49-F238E27FC236}">
                <a16:creationId xmlns:a16="http://schemas.microsoft.com/office/drawing/2014/main" id="{CCE5E61A-C36C-9609-1BDA-9C430CAA2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353" y="165167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5B35C8-9BFE-624E-F961-890AEFEF91D8}"/>
              </a:ext>
            </a:extLst>
          </p:cNvPr>
          <p:cNvSpPr txBox="1"/>
          <p:nvPr/>
        </p:nvSpPr>
        <p:spPr>
          <a:xfrm>
            <a:off x="3166879" y="2394707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</a:t>
            </a: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Presentation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Batch-18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41CD20-3C4B-B8B8-EA42-D74DF5F73F6F}"/>
              </a:ext>
            </a:extLst>
          </p:cNvPr>
          <p:cNvSpPr txBox="1"/>
          <p:nvPr/>
        </p:nvSpPr>
        <p:spPr>
          <a:xfrm>
            <a:off x="3460324" y="3752297"/>
            <a:ext cx="551084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D.Harika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(228W1A1280)</a:t>
            </a:r>
          </a:p>
          <a:p>
            <a:pPr algn="ctr"/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K.Yashmitha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(228W1A1298)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B3A00-CBDB-2D41-2636-A3736DF85024}"/>
              </a:ext>
            </a:extLst>
          </p:cNvPr>
          <p:cNvSpPr txBox="1"/>
          <p:nvPr/>
        </p:nvSpPr>
        <p:spPr>
          <a:xfrm>
            <a:off x="3048000" y="507834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Y.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Sandeep</a:t>
            </a:r>
          </a:p>
          <a:p>
            <a:pPr algn="ctr"/>
            <a:r>
              <a:rPr lang="en-US" sz="20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Sr.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7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AF78-AD62-3364-8A23-28F92674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667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8A7ED-47D0-E190-AF25-439B29893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11" y="1031887"/>
            <a:ext cx="10345133" cy="471580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Project Evolution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Requirements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Results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09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968" y="355005"/>
            <a:ext cx="1141525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</a:pP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2D CAD floor plans into 3D interior models is an essential task in architecture and interior design.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require manual modeling, which is time-consuming and prone to errors.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proposes an automated system to transform CAD-based floor plan files (DXF format) into interactive 3D room layouts.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extracts structural elements such as walls, doors, and windows and converts them into a structured format for 3D visualization.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integrates modern technologies to provide realistic and interactive interior design experiences.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is to improve efficiency, accuracy, and ease of visualization in interior planning. </a:t>
            </a:r>
          </a:p>
        </p:txBody>
      </p:sp>
    </p:spTree>
    <p:extLst>
      <p:ext uri="{BB962C8B-B14F-4D97-AF65-F5344CB8AC3E}">
        <p14:creationId xmlns:p14="http://schemas.microsoft.com/office/powerpoint/2010/main" val="51851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795601" y="295272"/>
            <a:ext cx="121920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16" y="1631109"/>
            <a:ext cx="791251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3D modeling from floor plans is time-consuming and labor-intensive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Designers recreate walls, doors, and windows manually in 3D tools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Errors may occur during manual interpretation of 2D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drawings.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conversion from CAD floor plans to 3D models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system reduces design time and improves efficiency.</a:t>
            </a:r>
          </a:p>
        </p:txBody>
      </p:sp>
      <p:pic>
        <p:nvPicPr>
          <p:cNvPr id="4" name="Picture 3" descr="motivation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5" y="1454127"/>
            <a:ext cx="4139381" cy="34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0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58A4-0B11-C30E-85A0-5327E74C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7ACE4-F8F8-EB09-E2BE-EE79250D2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714" y="1164163"/>
            <a:ext cx="11039169" cy="49348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3D interior models from 2D CAD floor plans is a time-consuming and manual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designers typically recreate walls, doors, and windows manually in 3D modeling software based on 2D drawings. This process: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time and technical expertise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possibility of human errors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inefficiencies in visualization and modification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Slows down the interior planning workflow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that can directly convert CAD-based floor plan files into structured 3D interior layouts without manual reconstruction.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7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C736-3365-9A31-32BB-40E13632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5900"/>
            <a:ext cx="12192000" cy="109004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9A21-3F66-090D-0A27-546ADEC04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0149"/>
            <a:ext cx="10515600" cy="527475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kumimoji="0" lang="en-US" altLang="en-US" sz="2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conversion of CAD floor plans into 3D interior models.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extract walls, doors, and windows from DXF files.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convert CAD data into structured JSON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5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Outcomes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extraction of structural elements from CAD files.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generation of 3D interior layouts.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Reduction in manual modeling time and effort.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efficiency in interior design visualization.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39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37A4-E7BA-BF91-E29E-6DF2453C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365"/>
            <a:ext cx="12191999" cy="73855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196793"/>
              </p:ext>
            </p:extLst>
          </p:nvPr>
        </p:nvGraphicFramePr>
        <p:xfrm>
          <a:off x="838199" y="813916"/>
          <a:ext cx="10515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48462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564219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94021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4522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Publication Details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Techniques Used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&amp; Evaluation Metrics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296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Blueprints to Reality: Converting 2D Plans into 3D Models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(Sep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+ </a:t>
                      </a:r>
                      <a:r>
                        <a:rPr lang="fr-F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</a:t>
                      </a:r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extraction + automation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 2D blueprint → 3D model conversion. Evaluated on accuracy of geometry conversion and prototyping utility.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bridging 2D drafting and interactive 3D spaces using vision and CAD extraction.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099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Sketch2BIM: A Human-AI Pipeline to Convert Hand-Drawn Floor Plans to 3D BIM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(Oct 2025, arXiv)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framework with MLLMs + semantic layout → BIM scripting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unscaled hand-drawn plans into 3D BIM. Metrics: precision, recall, F1 score, geometric error RMSE/MAE.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AI and refinement feedback for robust extraction and semantic alignment.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93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CHOrD: Digital Twins for 3D Indoor Scenes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(Mar 2025, arXiv)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 image layout + scene synthesis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collision-free, house-scale indoor digital twins from layout representations. Evaluated on dataset performance and layout coherence.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straight 2D-to-3D but relevant to 3D scene generation with geometric and semantic constraints.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86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E5A5-890F-9EA6-84EC-9C94D832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50908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125974"/>
              </p:ext>
            </p:extLst>
          </p:nvPr>
        </p:nvGraphicFramePr>
        <p:xfrm>
          <a:off x="698498" y="1303866"/>
          <a:ext cx="10604504" cy="4191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126">
                  <a:extLst>
                    <a:ext uri="{9D8B030D-6E8A-4147-A177-3AD203B41FA5}">
                      <a16:colId xmlns:a16="http://schemas.microsoft.com/office/drawing/2014/main" val="4265271068"/>
                    </a:ext>
                  </a:extLst>
                </a:gridCol>
                <a:gridCol w="2651126">
                  <a:extLst>
                    <a:ext uri="{9D8B030D-6E8A-4147-A177-3AD203B41FA5}">
                      <a16:colId xmlns:a16="http://schemas.microsoft.com/office/drawing/2014/main" val="2187665046"/>
                    </a:ext>
                  </a:extLst>
                </a:gridCol>
                <a:gridCol w="2651126">
                  <a:extLst>
                    <a:ext uri="{9D8B030D-6E8A-4147-A177-3AD203B41FA5}">
                      <a16:colId xmlns:a16="http://schemas.microsoft.com/office/drawing/2014/main" val="1386484745"/>
                    </a:ext>
                  </a:extLst>
                </a:gridCol>
                <a:gridCol w="2651126">
                  <a:extLst>
                    <a:ext uri="{9D8B030D-6E8A-4147-A177-3AD203B41FA5}">
                      <a16:colId xmlns:a16="http://schemas.microsoft.com/office/drawing/2014/main" val="1718072380"/>
                    </a:ext>
                  </a:extLst>
                </a:gridCol>
              </a:tblGrid>
              <a:tr h="71684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Publication Details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Techniques Used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&amp; Evaluation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876107"/>
                  </a:ext>
                </a:extLst>
              </a:tr>
              <a:tr h="7168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MitUNet: Hybrid Mix-Transformer + U-Net for Floor Plan Segmentation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(Dec 2025, arXiv)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Mix-Transformer encoder + scSE-U-Net decoder, Tversky 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segmentation accuracy for thin and complex floor plan structures. Evaluation metrics: F1-score,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boundary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useful as a preprocessing stage in automated 2D-to-3D reconstruction pipelines. Enhances structural extraction precision.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168454"/>
                  </a:ext>
                </a:extLst>
              </a:tr>
              <a:tr h="716845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Floor Plan Analysis: Methods &amp; Applications (Review)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(Oct 2025, ScienceDirect)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survey of segmentation, detection, recognition, and reconstruction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automation methods for floor plan understanding. Evaluated qualitatively based on task coverage and application effectiveness.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strong theoretical foundation and identifies research gaps in 2D floor plan digitization and 3D model generation workflows.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117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81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0800000" flipH="1" flipV="1">
            <a:off x="233893" y="480482"/>
            <a:ext cx="646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Summary</a:t>
            </a:r>
            <a:endParaRPr lang="en-IN" sz="24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33893" y="621342"/>
            <a:ext cx="5203346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focus on converting 2D floor plans into 3D models using computer vision and deep learning techniques.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DeepPlan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DXF-Net improve accuracy in detecting walls, doors, and other structural elements.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approaches such as Plan2Scene generate complete 3D scenes using AI and graph-based methods.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are complex and resource-intensive, creating a need for simpler systems that directly process CAD files efficiently.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016" y="1064825"/>
            <a:ext cx="5933294" cy="439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6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432" y="1055476"/>
            <a:ext cx="56674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 Floor Plan Files (DXF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architectural floor plans created using CAD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Contain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 lines, door blocks, and window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8032" y="446069"/>
            <a:ext cx="10662252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5CFE1-4CA7-25F3-E917-A9D572CE71CD}"/>
              </a:ext>
            </a:extLst>
          </p:cNvPr>
          <p:cNvSpPr txBox="1"/>
          <p:nvPr/>
        </p:nvSpPr>
        <p:spPr>
          <a:xfrm>
            <a:off x="-4562168" y="29473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Sets Used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497" y="346348"/>
            <a:ext cx="5692878" cy="36135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8032" y="3723107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Three.js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ezdxf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(CAD file parsing library)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5054" y="3199887"/>
            <a:ext cx="37928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629832" y="3959914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Sample Floor Plan in CAD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69904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8B77-4726-93C0-0101-76CFC1C2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58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Architecture\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764A7-5A8C-5F6F-EF03-FC1CB127BB87}"/>
              </a:ext>
            </a:extLst>
          </p:cNvPr>
          <p:cNvSpPr txBox="1"/>
          <p:nvPr/>
        </p:nvSpPr>
        <p:spPr>
          <a:xfrm>
            <a:off x="194904" y="610337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CAD to 3D Visualization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719" y="946835"/>
            <a:ext cx="4982561" cy="52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3200" y="800100"/>
            <a:ext cx="10972800" cy="593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DXF File Upload 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User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architectural DXF file through the frontend.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Processing 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DXF file is sent to backend via REST API.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ezdxf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parses layers and extracts wall coordinates.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Structuring 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Extracted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converted into structured JSON format.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Coordinate Mapping 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2D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 plan coordinates are mapped into 3D space.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Wall Extrusion 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Wall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 algorithm converts 2D lines into 3D walls with height and thickness.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3D Mesh Generation 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Meshes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generated and rendered using Three.js. 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Interactive Output</a:t>
            </a:r>
          </a:p>
          <a:p>
            <a:pPr>
              <a:lnSpc>
                <a:spcPct val="150000"/>
              </a:lnSpc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Collision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applied and interactive 3D model displayed to user.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3200" y="1781146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00" y="80690"/>
            <a:ext cx="399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" y="101600"/>
            <a:ext cx="3598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6267" y="501710"/>
            <a:ext cx="1179406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DXF Parsing &amp; Structural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CAD File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{corners, walls, rooms, openings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Load DXF File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Read file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ezdxf.readfile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Access model space entities</a:t>
            </a:r>
          </a:p>
          <a:p>
            <a:pPr lvl="1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Extract Walls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entity in model space: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entity type = LINE and layer = "Walls":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Store wall as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Detect Corners (Intersections)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pair of walls: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if they intersect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intersection exists: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Compute intersection point: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 = (x1 + t(x2-x1), y1 + t(y2-y1))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0 ≤ t ≤ 1 and 0 ≤ u ≤ 1: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Store as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6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4133" y="145409"/>
            <a:ext cx="6096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Detect Openings (Doors &amp; Windows)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entity: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entity type = INSERT: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name contains "DOOR":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Mark as door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if name contains "WINDOW":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Mark as window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Map opening to nearest wall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Form Rooms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Connect walls to form closed loops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Each closed loop represents a room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{walls, corners, rooms, openings}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48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067" y="665289"/>
            <a:ext cx="116078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2: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GeometryToBlueprintJSON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{walls, corners, rooms, openings}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Blueprint3D JSON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Initialize JSON Structure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Create base JSON: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floorplan → corners, walls, textures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items → doors/windows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Convert Corners to Unique IDs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corner: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Generate unique ID (UUID)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as: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corner_id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(x, y)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Map Walls with Corner References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wall: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Replace coordinates with corner IDs: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wall = {corner1: id1, corner2: id2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600" y="101600"/>
            <a:ext cx="3598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9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1" y="324978"/>
            <a:ext cx="82804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Convert Openings to Items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opening: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Compute position along wall: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Position = P1 + t × (P2 − P1)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Compute rotation: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angle = atan2(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dx)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If door → set door properties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If window → set window properties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Add to items list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Apply Room Textures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For each room: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Assign floor texture based on room type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Generate Final JSON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Combine floorplan and items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Convert to JSON format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Blueprint3D JSON</a:t>
            </a:r>
          </a:p>
        </p:txBody>
      </p:sp>
    </p:spTree>
    <p:extLst>
      <p:ext uri="{BB962C8B-B14F-4D97-AF65-F5344CB8AC3E}">
        <p14:creationId xmlns:p14="http://schemas.microsoft.com/office/powerpoint/2010/main" val="1722621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988" y="40183"/>
            <a:ext cx="6987484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 Floorplan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3D Room Model Design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system for 2D Floor Plan to 3D Room Model Conversion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Generated interactive 3D room structures from 2D layouts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Focused on geometric accuracy and basic interior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B52C4A91-6E51-EF62-E701-A4EEBE2CD06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452" y="355005"/>
            <a:ext cx="4534533" cy="29814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83BD39-8A97-9302-FF0C-E2F391D04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3355826"/>
            <a:ext cx="4336685" cy="2980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3418" y="3151837"/>
            <a:ext cx="360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 to 3D Conversio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8518" y="6335995"/>
            <a:ext cx="229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 Visualization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988" y="3755923"/>
            <a:ext cx="698748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Extended the system with Augmented Reality (AR) Integration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Enabled real-time furniture placement in user’s physical room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Provided true-scale visualization on mobile devices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7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466" y="178879"/>
            <a:ext cx="5012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" y="1417736"/>
            <a:ext cx="3632201" cy="3128906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755250" y="2787454"/>
            <a:ext cx="1134534" cy="26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84" y="828133"/>
            <a:ext cx="2629035" cy="5032524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7387451" y="2718760"/>
            <a:ext cx="990600" cy="406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8" y="1908109"/>
            <a:ext cx="3640249" cy="21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2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933" y="381000"/>
            <a:ext cx="34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36" y="1415845"/>
            <a:ext cx="5202966" cy="40508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400" y="1415845"/>
            <a:ext cx="5609898" cy="418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57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2927" y="272845"/>
            <a:ext cx="34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8" y="1123489"/>
            <a:ext cx="6695768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68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568603"/>
            <a:ext cx="11250202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automated conversion of 2D CAD floor plans into accurate and interactive 3D interior models. 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efficient extraction and transformation of structural elements into JSON and high-quality 3D visualization. 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 through real-time rendering and Augmented Reality integration.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3163145"/>
            <a:ext cx="10745377" cy="216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and scalability using advanced AI/ML techniques for complex floor plans.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to multiple CAD formats and optimize performance for large-scale designs.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AR features with realistic effects and develop a mobile-based application for better accessibility.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874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C576-8569-50F2-9A1C-0AE92D08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60C2-9145-C3E4-1E21-2A456D3E2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191" y="14827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Doe et al., “Floor Plan Analysis and 3D Reconstruction: A Survey,” IEEE Access, 2024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Smith and B. Lee,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DeepPlan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Neural Network for Floor Plan Recognition and Semantic Labeling,” IEEE Transactions on Multimedia, 2025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Zhang and S. Liu, “DXF-Net: Direct Structural Recognition from CAD Floor Plans,” in Proc. IEEE/CVF Int. Conf. Computer Vision Workshops (ICCVW), 2025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Kumar et al., “Plan2Scene: 3D Scene Generation from 2D Architectural Plans Using Graph Neural Networks,” in Proc. IEEE/CVF Conf. Computer Vision and Pattern Recognition (CVPR), 2025.</a:t>
            </a:r>
          </a:p>
        </p:txBody>
      </p:sp>
    </p:spTree>
    <p:extLst>
      <p:ext uri="{BB962C8B-B14F-4D97-AF65-F5344CB8AC3E}">
        <p14:creationId xmlns:p14="http://schemas.microsoft.com/office/powerpoint/2010/main" val="59896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1581</Words>
  <Application>Microsoft Office PowerPoint</Application>
  <PresentationFormat>Widescreen</PresentationFormat>
  <Paragraphs>232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  <vt:lpstr>Agenda</vt:lpstr>
      <vt:lpstr>PowerPoint Presentation</vt:lpstr>
      <vt:lpstr>Motivation</vt:lpstr>
      <vt:lpstr>Problem Statement</vt:lpstr>
      <vt:lpstr>Objectives</vt:lpstr>
      <vt:lpstr>Literature Survey</vt:lpstr>
      <vt:lpstr>Literature Survey</vt:lpstr>
      <vt:lpstr>PowerPoint Presentation</vt:lpstr>
      <vt:lpstr>PowerPoint Presentation</vt:lpstr>
      <vt:lpstr>Architecture\Project flow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KODE</dc:creator>
  <cp:lastModifiedBy>HP</cp:lastModifiedBy>
  <cp:revision>71</cp:revision>
  <dcterms:created xsi:type="dcterms:W3CDTF">2025-01-07T13:33:41Z</dcterms:created>
  <dcterms:modified xsi:type="dcterms:W3CDTF">2026-04-20T03:59:59Z</dcterms:modified>
</cp:coreProperties>
</file>